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6d094733d0456a" /><Relationship Type="http://schemas.openxmlformats.org/officeDocument/2006/relationships/extended-properties" Target="/docProps/app.xml" Id="Rc365df06cb4b422f" /><Relationship Type="http://schemas.openxmlformats.org/officeDocument/2006/relationships/officeDocument" Target="/ppt/presentation.xml" Id="R6056b75a29ab41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dd7c4ba9774a8b"/>
  </p:sldMasterIdLst>
  <p:notesMasterIdLst>
    <p:notesMasterId xmlns:r="http://schemas.openxmlformats.org/officeDocument/2006/relationships" r:id="R3be64a45a5d44697"/>
  </p:notesMasterIdLst>
  <p:sldIdLst>
    <p:sldId xmlns:r="http://schemas.openxmlformats.org/officeDocument/2006/relationships" id="256" r:id="R7195cb67df2c4263"/>
    <p:sldId xmlns:r="http://schemas.openxmlformats.org/officeDocument/2006/relationships" id="257" r:id="R780a32ced8e74571"/>
    <p:sldId xmlns:r="http://schemas.openxmlformats.org/officeDocument/2006/relationships" id="258" r:id="R0febed2208154166"/>
    <p:sldId xmlns:r="http://schemas.openxmlformats.org/officeDocument/2006/relationships" id="259" r:id="R9e79ecd0f0f840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696c2f0c11401e" /><Relationship Type="http://schemas.openxmlformats.org/officeDocument/2006/relationships/slideMaster" Target="/ppt/slideMasters/slideMaster1.xml" Id="R7cdd7c4ba9774a8b" /><Relationship Type="http://schemas.openxmlformats.org/officeDocument/2006/relationships/notesMaster" Target="/ppt/notesMasters/notesMaster1.xml" Id="R3be64a45a5d44697" /><Relationship Type="http://schemas.openxmlformats.org/officeDocument/2006/relationships/presProps" Target="/ppt/presProps.xml" Id="R2a480abbe6bd4acd" /><Relationship Type="http://schemas.openxmlformats.org/officeDocument/2006/relationships/tableStyles" Target="/ppt/tableStyles.xml" Id="Rabc39b0a3da34b24" /><Relationship Type="http://schemas.openxmlformats.org/officeDocument/2006/relationships/slide" Target="/ppt/slides/slide1.xml" Id="R7195cb67df2c4263" /><Relationship Type="http://schemas.openxmlformats.org/officeDocument/2006/relationships/slide" Target="/ppt/slides/slide2.xml" Id="R780a32ced8e74571" /><Relationship Type="http://schemas.openxmlformats.org/officeDocument/2006/relationships/slide" Target="/ppt/slides/slide3.xml" Id="R0febed2208154166" /><Relationship Type="http://schemas.openxmlformats.org/officeDocument/2006/relationships/slide" Target="/ppt/slides/slide4.xml" Id="R9e79ecd0f0f840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af0a73ff2849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9d8cce3e334c65" /><Relationship Type="http://schemas.openxmlformats.org/officeDocument/2006/relationships/notesMaster" Target="/ppt/notesMasters/notesMaster1.xml" Id="R63e97c55ee8747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8a3b8b239b4766" /><Relationship Type="http://schemas.openxmlformats.org/officeDocument/2006/relationships/notesMaster" Target="/ppt/notesMasters/notesMaster1.xml" Id="R82beeb089cab44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b66dbd68ee4fe8" /><Relationship Type="http://schemas.openxmlformats.org/officeDocument/2006/relationships/notesMaster" Target="/ppt/notesMasters/notesMaster1.xml" Id="Rd05e35feb6c64c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65ac087ada4233" /><Relationship Type="http://schemas.openxmlformats.org/officeDocument/2006/relationships/notesMaster" Target="/ppt/notesMasters/notesMaster1.xml" Id="R2621bc4ee52a4e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importer outcome: a small evidence-backed review identifies both savings potential and compliance exposure.</a:t>
            </a:r>
          </a:p>
          <a:p xmlns:a="http://schemas.openxmlformats.org/drawingml/2006/main">
            <a:r>
              <a:t>All importer and entry data in this deck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Potential overpayment and underpayment exposure remain separate. Do not net them.</a:t>
            </a:r>
          </a:p>
          <a:p xmlns:a="http://schemas.openxmlformats.org/drawingml/2006/main">
            <a:r>
              <a:t>The $150,000 revenue example equals 5 audits per quarter times a $7,500 fixed fee times 4 quarters. It is an illustrative commercial assumption, not a forecast.</a:t>
            </a:r>
          </a:p>
          <a:p xmlns:a="http://schemas.openxmlformats.org/drawingml/2006/main">
            <a:r>
              <a:t>Rate and ruling sources: https://hts.usitc.gov/ and https://rulings.cbp.gov/</a:t>
            </a:r>
          </a:p>
          <a:p xmlns:a="http://schemas.openxmlformats.org/drawingml/2006/main">
            <a:r>
              <a:t>The duty calculation excludes Chapter 99 duties, trade remedies, preferences, origin, entry status, deadlines and recovery eligibility.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OpenAI Responses API MCP guide: https://developers.openai.com/api/docs/guides/tools-connectors-mcp</a:t>
            </a:r>
          </a:p>
          <a:p xmlns:a="http://schemas.openxmlformats.org/drawingml/2006/main">
            <a:r>
              <a:t>Approval flow: https://developers.openai.com/api/docs/guides/tools-connectors-mcp#approvals</a:t>
            </a:r>
          </a:p>
          <a:p xmlns:a="http://schemas.openxmlformats.org/drawingml/2006/main">
            <a:r>
              <a:t>Structured Outputs guide: https://developers.openai.com/api/docs/guides/structured-outputs</a:t>
            </a:r>
          </a:p>
          <a:p xmlns:a="http://schemas.openxmlformats.org/drawingml/2006/main">
            <a:r>
              <a:t>The demo uses allowed_tools, strict text.format JSON Schema, previous_response_id and mcp_approval_response.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ruling links for this scenario: https://rulings.cbp.gov/ruling/N224817, https://rulings.cbp.gov/ruling/N241154 and https://rulings.cbp.gov/ruling/N321134</a:t>
            </a:r>
          </a:p>
          <a:p xmlns:a="http://schemas.openxmlformats.org/drawingml/2006/main">
            <a:r>
              <a:t>The displayed test and evaluation counts were measured locally on 2026-10-18. The evaluation covers deterministic fixture logic, not model correctness.</a:t>
            </a:r>
          </a:p>
          <a:p xmlns:a="http://schemas.openxmlformats.org/drawingml/2006/main">
            <a:r>
              <a:t>Close with the next proof point: one live Responses API run through an authenticated remote MCP endpoint, followed by the approval continuation.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b4611d623d45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132d6c6fa4b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97de5d26b49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f947d36e524d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74115350644a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271c019934e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32ECEA-891D-4D27-B61E-38049F4363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274B87-0AE1-43B5-A1E5-45326EE771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53AB4C3-935D-4007-96B1-CC867C4399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BA65F8-95BC-412B-983E-DC05658586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25C89D-FE40-454E-A20C-C2E390132B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C62564-CACD-461B-9900-D218B66B62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A194FD-8D7B-4B51-AD5A-E8FDD162F9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D1C762-D6EC-4AB9-B62F-AA178210BD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76D1FF-15A0-433D-8E04-AAD4D42217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C867AD-AA03-4729-AAF1-94AE180C86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b8df4ff2504aeb" /><Relationship Type="http://schemas.openxmlformats.org/officeDocument/2006/relationships/slideLayout" Target="/ppt/slideLayouts/slideLayout1.xml" Id="Re79c4731e2984d1b" /><Relationship Type="http://schemas.openxmlformats.org/officeDocument/2006/relationships/slideLayout" Target="/ppt/slideLayouts/slideLayout2.xml" Id="R6ea69b3130a145a7" /><Relationship Type="http://schemas.openxmlformats.org/officeDocument/2006/relationships/slideLayout" Target="/ppt/slideLayouts/slideLayout3.xml" Id="R4634184c871744c8" /><Relationship Type="http://schemas.openxmlformats.org/officeDocument/2006/relationships/slideLayout" Target="/ppt/slideLayouts/slideLayout4.xml" Id="R8cb57bd21658408e" /><Relationship Type="http://schemas.openxmlformats.org/officeDocument/2006/relationships/slideLayout" Target="/ppt/slideLayouts/slideLayout5.xml" Id="R85bee4a6268b4e68" /><Relationship Type="http://schemas.openxmlformats.org/officeDocument/2006/relationships/slideLayout" Target="/ppt/slideLayouts/slideLayout6.xml" Id="R39e2dd2cddf849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9c4731e2984d1b"/>
    <p:sldLayoutId xmlns:r="http://schemas.openxmlformats.org/officeDocument/2006/relationships" id="2147483650" r:id="R6ea69b3130a145a7"/>
    <p:sldLayoutId xmlns:r="http://schemas.openxmlformats.org/officeDocument/2006/relationships" id="2147483651" r:id="R4634184c871744c8"/>
    <p:sldLayoutId xmlns:r="http://schemas.openxmlformats.org/officeDocument/2006/relationships" id="2147483652" r:id="R8cb57bd21658408e"/>
    <p:sldLayoutId xmlns:r="http://schemas.openxmlformats.org/officeDocument/2006/relationships" id="2147483653" r:id="R85bee4a6268b4e68"/>
    <p:sldLayoutId xmlns:r="http://schemas.openxmlformats.org/officeDocument/2006/relationships" id="2147483654" r:id="R39e2dd2cddf849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1360a868e441da" /><Relationship Type="http://schemas.openxmlformats.org/officeDocument/2006/relationships/notesSlide" Target="/ppt/notesSlides/notesSlide1.xml" Id="Ra7e818c83d1444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f189b607741bb" /><Relationship Type="http://schemas.openxmlformats.org/officeDocument/2006/relationships/chart" Target="/ppt/slides/charts/chart1.xml" Id="Rc4dfc2da55ce406c" /><Relationship Type="http://schemas.openxmlformats.org/officeDocument/2006/relationships/notesSlide" Target="/ppt/notesSlides/notesSlide2.xml" Id="R39dc7289891f4e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b9b5b2411747de" /><Relationship Type="http://schemas.openxmlformats.org/officeDocument/2006/relationships/notesSlide" Target="/ppt/notesSlides/notesSlide3.xml" Id="R3b712c9ad6ef48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13f025c60b4c1b" /><Relationship Type="http://schemas.openxmlformats.org/officeDocument/2006/relationships/notesSlide" Target="/ppt/notesSlides/notesSlide4.xml" Id="R20ed954d1f0e4eb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1"/>
        <c:ser>
          <c:idx val="0"/>
          <c:order val="0"/>
          <c:tx>
            <c:v>Base-duty difference</c:v>
          </c:tx>
          <c:spPr>
            <a:solidFill xmlns:a="http://schemas.openxmlformats.org/drawingml/2006/main">
              <a:srgbClr val="00A6A6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A6A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65F5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Potential overpayment</c:v>
                </c:pt>
                <c:pt idx="1">
                  <c:v>Underpayment exposure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20570</c:v>
                </c:pt>
                <c:pt idx="1">
                  <c:v>14860</c:v>
                </c:pt>
              </c:numCache>
            </c:numRef>
          </c:val>
        </c:ser>
        <c:dLbls>
          <c:numFmt formatCode="$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525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AD8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ABB4B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5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55072-D46D-44B2-A93D-60E0E9E9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762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A2615-7B1A-4459-B04A-04420563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143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85D7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85D7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85D7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85D7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85D7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85D7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85D7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85D7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85D7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85D7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85D7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5D7D5"/>
                </a:solidFill>
                <a:latin typeface="Arial"/>
                <a:ea typeface="Arial"/>
                <a:cs typeface="Arial"/>
              </a:rPr>
              <a:t>HARBOR &amp; CRANE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0C289-B0B2-481F-BA10-F290E4E0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847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Potential duty differences,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backed by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CE20D-A2F5-49B1-95EF-9F1740BD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C8D4D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C8D4D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C8D4D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C8D4D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C8D4D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C8D4D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C8D4D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C8D4D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C8D4D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C8D4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C8D4D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8D4DD"/>
                </a:solidFill>
                <a:latin typeface="Arial"/>
                <a:ea typeface="Arial"/>
                <a:cs typeface="Arial"/>
              </a:rPr>
              <a:t>Premium tariff classification audit for Northfield Home Goods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E99A8-63CE-42FD-9213-DED32A5B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102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8EA3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8EA3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8EA3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8EA3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8EA3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8EA3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8EA3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8EA3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8EA3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8EA3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EA3B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EA3B2"/>
                </a:solidFill>
                <a:latin typeface="Arial"/>
                <a:ea typeface="Arial"/>
                <a:cs typeface="Arial"/>
              </a:rPr>
              <a:t>Five-minute demonstration · synthetic importer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F74AA-E84A-4900-A285-092D0B68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10250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350" b="1">
                <a:solidFill>
                  <a:srgbClr val="8EA3B2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8EA3B2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8EA3B2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8EA3B2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8EA3B2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8EA3B2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8EA3B2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8EA3B2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8EA3B2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8EA3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8EA3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EA3B2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69824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CA4FB-C32A-4522-A7F0-BD531E9F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Synthetic portfolio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DF9DE-E8DA-42A9-8B44-85E54EBE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96A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201AAE5-AB40-4A30-BB20-1AF6010F94EA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dfc2da55ce406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F10EA-1C64-4123-98E8-A15735A1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1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27AA4-0861-4CC0-96AE-2A5CA01D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52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defPPr>
            <a:lvl1pPr algn="l">
              <a:defRPr sz="52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1pPr>
            <a:lvl2pPr algn="l">
              <a:defRPr sz="52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2pPr>
            <a:lvl3pPr algn="l">
              <a:defRPr sz="52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3pPr>
            <a:lvl4pPr algn="l">
              <a:defRPr sz="52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4pPr>
            <a:lvl5pPr algn="l">
              <a:defRPr sz="52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5pPr>
            <a:lvl6pPr algn="l">
              <a:defRPr sz="52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6pPr>
            <a:lvl7pPr algn="l">
              <a:defRPr sz="52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7pPr>
            <a:lvl8pPr algn="l">
              <a:defRPr sz="52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8pPr>
            <a:lvl9pPr algn="l">
              <a:defRPr sz="52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$150K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112CA-901C-4645-AAE0-DA1A086A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479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5253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5253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5253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5253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5253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5253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5253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5253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5253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525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525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536"/>
                </a:solidFill>
                <a:latin typeface="Arial"/>
                <a:ea typeface="Arial"/>
                <a:cs typeface="Arial"/>
              </a:rPr>
              <a:t>Illustrative annual audit 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2AD4D-CE8B-4106-9810-B26F51DA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76625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5 audits per quarter</a:t>
            </a:r>
          </a:p>
          <a:p xmlns:a="http://schemas.openxmlformats.org/drawingml/2006/main">
            <a:pPr algn="l">
              <a:defRPr sz="17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$7,500 fixed fee per audit</a:t>
            </a:r>
          </a:p>
          <a:p xmlns:a="http://schemas.openxmlformats.org/drawingml/2006/main">
            <a:pPr algn="l">
              <a:defRPr sz="17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4 quarters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DDF99-0463-4CFB-8284-EC5498A8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33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Revenue does not depend on a refund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A87BE-5490-4782-94FB-90F9B70E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D7883"/>
                </a:solidFill>
                <a:latin typeface="Arial"/>
                <a:ea typeface="Arial"/>
                <a:cs typeface="Arial"/>
              </a:rPr>
              <a:t>Duty figures use 12 synthetic SKUs and verified 2026 Column 1 General rates. Commercial assumptions are illustrative.</a:t>
            </a:r>
          </a:p>
        </p:txBody>
      </p:sp>
    </p:spTree>
    <p:extLst>
      <p:ext uri="{BB962C8B-B14F-4D97-AF65-F5344CB8AC3E}">
        <p14:creationId xmlns:p14="http://schemas.microsoft.com/office/powerpoint/2010/main" val="1086904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D06F6-23BA-4CFA-9F4A-F57FC1255C3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57250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A6A6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186A8-5D97-405B-A433-FE4C8DFC197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7215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A6A6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AF965-4322-4543-8936-7E96FE49F54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71800" y="29337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A6A6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287AB-B021-46C9-9AF2-028D9FE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Controlled review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61DEA-C936-4416-941D-883FF798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96A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1B6BC079-AA5F-4F45-B103-22E6FACC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86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DF3F2"/>
          </a:solidFill>
          <a:ln xmlns:a="http://schemas.openxmlformats.org/drawingml/2006/main" w="19050">
            <a:solidFill>
              <a:srgbClr val="B7C9C7"/>
            </a:solidFill>
            <a:prstDash val="solid"/>
          </a:ln>
        </p:spPr>
        <p:txBody>
          <a:bodyPr xmlns:a="http://schemas.openxmlformats.org/drawingml/2006/main" lIns="228600" tIns="190500" rIns="171450" bIns="152400"/>
          <a:lstStyle xmlns:a="http://schemas.openxmlformats.org/drawingml/2006/main">
            <a:def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Broker selects</a:t>
            </a:r>
          </a:p>
          <a:p xmlns:a="http://schemas.openxmlformats.org/drawingml/2006/main">
            <a: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products and facts</a:t>
            </a:r>
          </a:p>
        </p:txBody>
      </p:sp>
      <p:sp>
        <p:nvSpPr>
          <p:cNvPr id="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EADC59B7-2F74-4F50-8C4F-B8289377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2286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DF3F2"/>
          </a:solidFill>
          <a:ln xmlns:a="http://schemas.openxmlformats.org/drawingml/2006/main" w="19050">
            <a:solidFill>
              <a:srgbClr val="B7C9C7"/>
            </a:solidFill>
            <a:prstDash val="solid"/>
          </a:ln>
        </p:spPr>
        <p:txBody>
          <a:bodyPr xmlns:a="http://schemas.openxmlformats.org/drawingml/2006/main" lIns="228600" tIns="190500" rIns="171450" bIns="152400"/>
          <a:lstStyle xmlns:a="http://schemas.openxmlformats.org/drawingml/2006/main">
            <a:def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Responses API</a:t>
            </a:r>
          </a:p>
          <a:p xmlns:a="http://schemas.openxmlformats.org/drawingml/2006/main">
            <a: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uses restricted MCP</a:t>
            </a:r>
          </a:p>
        </p:txBody>
      </p:sp>
      <p:sp>
        <p:nvSpPr>
          <p:cNvPr id="5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91C7449F-21C0-4BE7-BE19-958CFC18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286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DF3F2"/>
          </a:solidFill>
          <a:ln xmlns:a="http://schemas.openxmlformats.org/drawingml/2006/main" w="19050">
            <a:solidFill>
              <a:srgbClr val="B7C9C7"/>
            </a:solidFill>
            <a:prstDash val="solid"/>
          </a:ln>
        </p:spPr>
        <p:txBody>
          <a:bodyPr xmlns:a="http://schemas.openxmlformats.org/drawingml/2006/main" lIns="228600" tIns="190500" rIns="171450" bIns="152400"/>
          <a:lstStyle xmlns:a="http://schemas.openxmlformats.org/drawingml/2006/main">
            <a:def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Application validates</a:t>
            </a:r>
          </a:p>
          <a:p xmlns:a="http://schemas.openxmlformats.org/drawingml/2006/main">
            <a:pPr algn="l">
              <a:defRPr sz="18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evidence and dollars</a:t>
            </a:r>
          </a:p>
        </p:txBody>
      </p:sp>
      <p:sp>
        <p:nvSpPr>
          <p:cNvPr id="6" name="workflow-node-4">
            <a:extLst xmlns:a="http://schemas.openxmlformats.org/drawingml/2006/main">
              <a:ext uri="{FF2B5EF4-FFF2-40B4-BE49-F238E27FC236}">
                <a16:creationId xmlns:a16="http://schemas.microsoft.com/office/drawing/2014/main" id="{BEB11FFA-8AA6-47F0-BF03-F30C8A7F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95500"/>
            <a:ext cx="2286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19050">
            <a:solidFill>
              <a:srgbClr val="0A2540"/>
            </a:solidFill>
            <a:prstDash val="solid"/>
          </a:ln>
        </p:spPr>
        <p:txBody>
          <a:bodyPr xmlns:a="http://schemas.openxmlformats.org/drawingml/2006/main" lIns="228600" tIns="190500" rIns="171450" bIns="152400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Broker approves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local draft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4F8EC-D90D-40D5-BA28-23094379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The model proposes a classification.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EE9DE-BE13-4903-84B0-59E4E5FD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Application code checks fetched citations, computes the duty difference and enforces authorization.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5F8C6-64A2-45F7-8EA9-41F52C94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D7883"/>
                </a:solidFill>
                <a:latin typeface="Arial"/>
                <a:ea typeface="Arial"/>
                <a:cs typeface="Arial"/>
              </a:rPr>
              <a:t>Correction actions remain draft-only. OpenAI approval and the application’s single-use token both cover one exact tool call.</a:t>
            </a:r>
          </a:p>
        </p:txBody>
      </p:sp>
    </p:spTree>
    <p:extLst>
      <p:ext uri="{BB962C8B-B14F-4D97-AF65-F5344CB8AC3E}">
        <p14:creationId xmlns:p14="http://schemas.microsoft.com/office/powerpoint/2010/main" val="664907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5BEB0-01B4-4C69-B026-5229BC17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Five-minute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C3D65-7908-426D-A40B-FEF4D390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79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796A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9AF82-595C-40E5-9CB6-4D6EC5863906}"/>
              </a:ext>
            </a:extLst>
          </p:cNvPr>
          <p:cNvGraphicFramePr/>
          <p:nvPr/>
        </p:nvGraphicFramePr>
        <p:xfrm>
          <a:off xmlns:a="http://schemas.openxmlformats.org/drawingml/2006/main" x="685800" y="140970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3333750"/>
                <a:gridCol w="2476500"/>
                <a:gridCol w="3343275"/>
              </a:tblGrid>
              <a:tr h="6096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SKU</a:t>
                      </a:r>
                    </a:p>
                  </a:txBody>
                  <a:tcPr marL="114300" marR="114300" marT="85725" marB="85725">
                    <a:lnL w="9525">
                      <a:solidFill>
                        <a:srgbClr val="C8D1D0"/>
                      </a:solidFill>
                      <a:prstDash val="solid"/>
                    </a:lnL>
                    <a:lnR w="9525">
                      <a:solidFill>
                        <a:srgbClr val="C8D1D0"/>
                      </a:solidFill>
                      <a:prstDash val="solid"/>
                    </a:lnR>
                    <a:lnT w="9525">
                      <a:solidFill>
                        <a:srgbClr val="C8D1D0"/>
                      </a:solidFill>
                      <a:prstDash val="solid"/>
                    </a:lnT>
                    <a:lnB w="9525">
                      <a:solidFill>
                        <a:srgbClr val="C8D1D0"/>
                      </a:solidFill>
                      <a:prstDash val="soli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Decisive fact</a:t>
                      </a:r>
                    </a:p>
                  </a:txBody>
                  <a:tcPr marL="114300" marR="114300" marT="85725" marB="85725">
                    <a:lnR w="9525">
                      <a:solidFill>
                        <a:srgbClr val="C8D1D0"/>
                      </a:solidFill>
                      <a:prstDash val="solid"/>
                    </a:lnR>
                    <a:lnT w="9525">
                      <a:solidFill>
                        <a:srgbClr val="C8D1D0"/>
                      </a:solidFill>
                      <a:prstDash val="solid"/>
                    </a:lnT>
                    <a:lnB w="9525">
                      <a:solidFill>
                        <a:srgbClr val="C8D1D0"/>
                      </a:solidFill>
                      <a:prstDash val="soli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Code review</a:t>
                      </a:r>
                    </a:p>
                  </a:txBody>
                  <a:tcPr marL="114300" marR="114300" marT="85725" marB="85725">
                    <a:lnR w="9525">
                      <a:solidFill>
                        <a:srgbClr val="C8D1D0"/>
                      </a:solidFill>
                      <a:prstDash val="solid"/>
                    </a:lnR>
                    <a:lnT w="9525">
                      <a:solidFill>
                        <a:srgbClr val="C8D1D0"/>
                      </a:solidFill>
                      <a:prstDash val="solid"/>
                    </a:lnT>
                    <a:lnB w="9525">
                      <a:solidFill>
                        <a:srgbClr val="C8D1D0"/>
                      </a:solidFill>
                      <a:prstDash val="soli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Broker view</a:t>
                      </a:r>
                    </a:p>
                  </a:txBody>
                  <a:tcPr marL="114300" marR="114300" marT="85725" marB="85725">
                    <a:lnR w="9525">
                      <a:solidFill>
                        <a:srgbClr val="C8D1D0"/>
                      </a:solidFill>
                      <a:prstDash val="solid"/>
                    </a:lnR>
                    <a:lnT w="9525">
                      <a:solidFill>
                        <a:srgbClr val="C8D1D0"/>
                      </a:solidFill>
                      <a:prstDash val="solid"/>
                    </a:lnT>
                    <a:lnB w="9525">
                      <a:solidFill>
                        <a:srgbClr val="C8D1D0"/>
                      </a:solidFill>
                      <a:prstDash val="solid"/>
                    </a:lnB>
                    <a:solidFill>
                      <a:srgbClr val="0A254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536"/>
                          </a:solidFill>
                          <a:latin typeface="Arial"/>
                          <a:ea typeface="Arial"/>
                          <a:cs typeface="Arial"/>
                        </a:rPr>
                        <a:t>NF-DW-001</a:t>
                      </a:r>
                    </a:p>
                  </a:txBody>
                  <a:tcPr marL="114300" marR="114300" marT="85725" marB="85725">
                    <a:lnL w="9525">
                      <a:solidFill>
                        <a:srgbClr val="C8D1D0"/>
                      </a:solidFill>
                      <a:prstDash val="solid"/>
                    </a:lnL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536"/>
                          </a:solidFill>
                          <a:latin typeface="Arial"/>
                          <a:ea typeface="Arial"/>
                          <a:cs typeface="Arial"/>
                        </a:rPr>
                        <a:t>No vacuum between walls</a:t>
                      </a:r>
                    </a:p>
                  </a:txBody>
                  <a:tcPr marL="114300" marR="114300" marT="85725" marB="85725"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536"/>
                          </a:solidFill>
                          <a:latin typeface="Arial"/>
                          <a:ea typeface="Arial"/>
                          <a:cs typeface="Arial"/>
                        </a:rPr>
                        <a:t>9617 to 7323</a:t>
                      </a:r>
                    </a:p>
                  </a:txBody>
                  <a:tcPr marL="114300" marR="114300" marT="85725" marB="85725"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A73"/>
                          </a:solidFill>
                          <a:latin typeface="Arial"/>
                          <a:ea typeface="Arial"/>
                          <a:cs typeface="Arial"/>
                        </a:rPr>
                        <a:t>$12,480 potential overpayment</a:t>
                      </a:r>
                    </a:p>
                  </a:txBody>
                  <a:tcPr marL="114300" marR="114300" marT="85725" marB="85725"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  <a:solidFill>
                      <a:srgbClr val="DDF1E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536"/>
                          </a:solidFill>
                          <a:latin typeface="Arial"/>
                          <a:ea typeface="Arial"/>
                          <a:cs typeface="Arial"/>
                        </a:rPr>
                        <a:t>NF-DW-002</a:t>
                      </a:r>
                    </a:p>
                  </a:txBody>
                  <a:tcPr marL="114300" marR="114300" marT="85725" marB="85725">
                    <a:lnL w="9525">
                      <a:solidFill>
                        <a:srgbClr val="C8D1D0"/>
                      </a:solidFill>
                      <a:prstDash val="solid"/>
                    </a:lnL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536"/>
                          </a:solidFill>
                          <a:latin typeface="Arial"/>
                          <a:ea typeface="Arial"/>
                          <a:cs typeface="Arial"/>
                        </a:rPr>
                        <a:t>Vacuum confirmed</a:t>
                      </a:r>
                    </a:p>
                  </a:txBody>
                  <a:tcPr marL="114300" marR="114300" marT="85725" marB="85725"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536"/>
                          </a:solidFill>
                          <a:latin typeface="Arial"/>
                          <a:ea typeface="Arial"/>
                          <a:cs typeface="Arial"/>
                        </a:rPr>
                        <a:t>7323 to 9617</a:t>
                      </a:r>
                    </a:p>
                  </a:txBody>
                  <a:tcPr marL="114300" marR="114300" marT="85725" marB="85725"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A54444"/>
                          </a:solidFill>
                          <a:latin typeface="Arial"/>
                          <a:ea typeface="Arial"/>
                          <a:cs typeface="Arial"/>
                        </a:rPr>
                        <a:t>$6,240 underpayment exposure</a:t>
                      </a:r>
                    </a:p>
                  </a:txBody>
                  <a:tcPr marL="114300" marR="114300" marT="85725" marB="85725"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  <a:solidFill>
                      <a:srgbClr val="F8E2E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536"/>
                          </a:solidFill>
                          <a:latin typeface="Arial"/>
                          <a:ea typeface="Arial"/>
                          <a:cs typeface="Arial"/>
                        </a:rPr>
                        <a:t>NF-DW-003</a:t>
                      </a:r>
                    </a:p>
                  </a:txBody>
                  <a:tcPr marL="114300" marR="114300" marT="85725" marB="85725">
                    <a:lnL w="9525">
                      <a:solidFill>
                        <a:srgbClr val="C8D1D0"/>
                      </a:solidFill>
                      <a:prstDash val="solid"/>
                    </a:lnL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536"/>
                          </a:solidFill>
                          <a:latin typeface="Arial"/>
                          <a:ea typeface="Arial"/>
                          <a:cs typeface="Arial"/>
                        </a:rPr>
                        <a:t>Vacuum status unknown</a:t>
                      </a:r>
                    </a:p>
                  </a:txBody>
                  <a:tcPr marL="114300" marR="114300" marT="85725" marB="85725"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536"/>
                          </a:solidFill>
                          <a:latin typeface="Arial"/>
                          <a:ea typeface="Arial"/>
                          <a:cs typeface="Arial"/>
                        </a:rPr>
                        <a:t>No proposed code</a:t>
                      </a:r>
                    </a:p>
                  </a:txBody>
                  <a:tcPr marL="114300" marR="114300" marT="85725" marB="85725"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536"/>
                          </a:solidFill>
                          <a:latin typeface="Arial"/>
                          <a:ea typeface="Arial"/>
                          <a:cs typeface="Arial"/>
                        </a:rPr>
                        <a:t>Request supplier evidence</a:t>
                      </a:r>
                    </a:p>
                  </a:txBody>
                  <a:tcPr marL="114300" marR="114300" marT="85725" marB="85725"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536"/>
                          </a:solidFill>
                          <a:latin typeface="Arial"/>
                          <a:ea typeface="Arial"/>
                          <a:cs typeface="Arial"/>
                        </a:rPr>
                        <a:t>NF-DW-004</a:t>
                      </a:r>
                    </a:p>
                  </a:txBody>
                  <a:tcPr marL="114300" marR="114300" marT="85725" marB="85725">
                    <a:lnL w="9525">
                      <a:solidFill>
                        <a:srgbClr val="C8D1D0"/>
                      </a:solidFill>
                      <a:prstDash val="solid"/>
                    </a:lnL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536"/>
                          </a:solidFill>
                          <a:latin typeface="Arial"/>
                          <a:ea typeface="Arial"/>
                          <a:cs typeface="Arial"/>
                        </a:rPr>
                        <a:t>Vacuum confirmed</a:t>
                      </a:r>
                    </a:p>
                  </a:txBody>
                  <a:tcPr marL="114300" marR="114300" marT="85725" marB="85725"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536"/>
                          </a:solidFill>
                          <a:latin typeface="Arial"/>
                          <a:ea typeface="Arial"/>
                          <a:cs typeface="Arial"/>
                        </a:rPr>
                        <a:t>9617 confirmed</a:t>
                      </a:r>
                    </a:p>
                  </a:txBody>
                  <a:tcPr marL="114300" marR="114300" marT="85725" marB="85725"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536"/>
                          </a:solidFill>
                          <a:latin typeface="Arial"/>
                          <a:ea typeface="Arial"/>
                          <a:cs typeface="Arial"/>
                        </a:rPr>
                        <a:t>No correction indicated</a:t>
                      </a:r>
                    </a:p>
                  </a:txBody>
                  <a:tcPr marL="114300" marR="114300" marT="85725" marB="85725">
                    <a:lnR w="9525">
                      <a:solidFill>
                        <a:srgbClr val="C8D1D0"/>
                      </a:solidFill>
                      <a:prstDash val="solid"/>
                    </a:lnR>
                    <a:lnB w="9525">
                      <a:solidFill>
                        <a:srgbClr val="C8D1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DC29D-D629-4700-A181-4B469EB3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38700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CC5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34FFB-DD78-4031-8A49-645D5428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Live fact edit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BB68F-A515-4944-882B-C3C3C77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Laboratory-confirmed vacuum construction changes NF-DW-003 from needs information to underpayment exposure.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F1079-A92B-43FA-9414-3EE97379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01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E53B3-9844-4805-8F5C-BC2423AC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3875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Dana sees the exact draft arguments. Approval creates one local draft and never files it with CBP.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188CD-D4B1-4B88-9C21-9C891DB6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D78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D7883"/>
                </a:solidFill>
                <a:latin typeface="Arial"/>
                <a:ea typeface="Arial"/>
                <a:cs typeface="Arial"/>
              </a:rPr>
              <a:t>Measured: 14/14 deterministic evaluation cases and 14/14 tests. Live OpenAI metrics require credentials and remote MCP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4276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2026-10-18T17:34:19.3560000Z</dcterms:created>
  <dcterms:modified xsi:type="dcterms:W3CDTF">2026-10-18T17:34:19.3570000Z</dcterms:modified>
</coreProperties>
</file>